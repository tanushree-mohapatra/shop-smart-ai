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5"/>
  </p:notesMasterIdLst>
  <p:sldIdLst>
    <p:sldId id="283" r:id="rId3"/>
    <p:sldId id="257" r:id="rId4"/>
    <p:sldId id="282" r:id="rId6"/>
    <p:sldId id="290" r:id="rId7"/>
    <p:sldId id="285" r:id="rId8"/>
    <p:sldId id="278" r:id="rId9"/>
    <p:sldId id="264" r:id="rId10"/>
    <p:sldId id="291" r:id="rId11"/>
    <p:sldId id="292" r:id="rId12"/>
    <p:sldId id="293" r:id="rId13"/>
    <p:sldId id="277" r:id="rId14"/>
    <p:sldId id="286" r:id="rId15"/>
    <p:sldId id="287" r:id="rId16"/>
    <p:sldId id="280" r:id="rId17"/>
    <p:sldId id="288" r:id="rId18"/>
    <p:sldId id="289" r:id="rId19"/>
    <p:sldId id="276"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AAD8F4D-43EB-41E5-8A38-28AB6DFB1B60}"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7"/>
        <p:cNvGrpSpPr/>
        <p:nvPr/>
      </p:nvGrpSpPr>
      <p:grpSpPr>
        <a:xfrm>
          <a:off x="0" y="0"/>
          <a:ext cx="0" cy="0"/>
          <a:chOff x="0" y="0"/>
          <a:chExt cx="0" cy="0"/>
        </a:xfrm>
      </p:grpSpPr>
      <p:sp>
        <p:nvSpPr>
          <p:cNvPr id="198" name="Google Shape;19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9" name="Google Shape;19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7"/>
        <p:cNvGrpSpPr/>
        <p:nvPr/>
      </p:nvGrpSpPr>
      <p:grpSpPr>
        <a:xfrm>
          <a:off x="0" y="0"/>
          <a:ext cx="0" cy="0"/>
          <a:chOff x="0" y="0"/>
          <a:chExt cx="0" cy="0"/>
        </a:xfrm>
      </p:grpSpPr>
      <p:sp>
        <p:nvSpPr>
          <p:cNvPr id="198" name="Google Shape;19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9" name="Google Shape;19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1.jpeg"/><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jpe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7.jpeg"/><Relationship Id="rId1" Type="http://schemas.openxmlformats.org/officeDocument/2006/relationships/image" Target="../media/image6.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panose="020F0502020204030204"/>
              <a:buNone/>
            </a:pPr>
            <a:endParaRPr sz="15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panose="02020603050405020304"/>
              <a:buNone/>
            </a:pPr>
            <a:endParaRPr sz="3200" b="1" i="0" u="none" strike="noStrike" cap="none">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96" name="Google Shape;96;p2"/>
          <p:cNvGraphicFramePr/>
          <p:nvPr>
            <p:custDataLst>
              <p:tags r:id="rId1"/>
            </p:custDataLst>
          </p:nvPr>
        </p:nvGraphicFramePr>
        <p:xfrm>
          <a:off x="1299210" y="2390140"/>
          <a:ext cx="9780270" cy="3006090"/>
        </p:xfrm>
        <a:graphic>
          <a:graphicData uri="http://schemas.openxmlformats.org/drawingml/2006/table">
            <a:tbl>
              <a:tblPr>
                <a:noFill/>
                <a:tableStyleId>{0AAD8F4D-43EB-41E5-8A38-28AB6DFB1B60}</a:tableStyleId>
              </a:tblPr>
              <a:tblGrid>
                <a:gridCol w="2149475"/>
                <a:gridCol w="2543810"/>
                <a:gridCol w="2543175"/>
                <a:gridCol w="2543810"/>
              </a:tblGrid>
              <a:tr h="1350645">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000000"/>
                          </a:solidFill>
                          <a:latin typeface="Arial" panose="020B0604020202020204"/>
                          <a:ea typeface="Calibri" panose="020F0502020204030204"/>
                          <a:cs typeface="Arial" panose="020B0604020202020204"/>
                          <a:sym typeface="Calibri" panose="020F0502020204030204"/>
                        </a:rPr>
                        <a:t>Email ID </a:t>
                      </a:r>
                      <a:endParaRPr sz="1800" b="0" i="0" u="none" strike="noStrike" cap="none">
                        <a:solidFill>
                          <a:srgbClr val="000000"/>
                        </a:solidFill>
                        <a:latin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panose="020F0502020204030204"/>
                        <a:buNone/>
                      </a:pPr>
                      <a:r>
                        <a:rPr lang="en-US" sz="1800" b="0" i="0" u="none" strike="noStrike" cap="none">
                          <a:solidFill>
                            <a:srgbClr val="000000"/>
                          </a:solidFill>
                          <a:latin typeface="Arial" panose="020B0604020202020204"/>
                          <a:ea typeface="Calibri" panose="020F0502020204030204"/>
                          <a:cs typeface="Arial" panose="020B0604020202020204"/>
                          <a:sym typeface="Calibri" panose="020F0502020204030204"/>
                        </a:rPr>
                        <a:t>Mobile number</a:t>
                      </a:r>
                      <a:endParaRPr sz="1800" b="0" i="0" u="none" strike="noStrike" cap="none">
                        <a:solidFill>
                          <a:srgbClr val="000000"/>
                        </a:solidFill>
                        <a:latin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chemeClr val="lt1"/>
                        </a:buClr>
                        <a:buSzPts val="1800"/>
                        <a:buFont typeface="Calibri" panose="020F0502020204030204"/>
                        <a:buNone/>
                      </a:pPr>
                      <a:r>
                        <a:rPr lang="en-US" sz="1800" b="0" i="0" u="none" strike="noStrike" cap="none">
                          <a:solidFill>
                            <a:srgbClr val="000000"/>
                          </a:solidFill>
                          <a:latin typeface="Arial" panose="020B0604020202020204"/>
                          <a:ea typeface="Calibri" panose="020F0502020204030204"/>
                          <a:cs typeface="Arial" panose="020B0604020202020204"/>
                          <a:sym typeface="Calibri" panose="020F0502020204030204"/>
                        </a:rPr>
                        <a:t>[WhatsApp] </a:t>
                      </a:r>
                      <a:endParaRPr sz="1800" b="0" i="0" u="none" strike="noStrike" cap="none">
                        <a:solidFill>
                          <a:srgbClr val="000000"/>
                        </a:solidFill>
                        <a:latin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r>
              <a:tr h="1655445">
                <a:tc>
                  <a:txBody>
                    <a:bodyPr/>
                    <a:lstStyle/>
                    <a:p>
                      <a:pPr marL="0" marR="0" lvl="0" indent="0" algn="l" rtl="0">
                        <a:spcBef>
                          <a:spcPts val="0"/>
                        </a:spcBef>
                        <a:spcAft>
                          <a:spcPts val="0"/>
                        </a:spcAft>
                        <a:buNone/>
                      </a:pPr>
                      <a:r>
                        <a:rPr lang="en-US"/>
                        <a:t>Tanushree Mohapatra</a:t>
                      </a:r>
                      <a:endParaRPr lang="en-US"/>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a:t>tanushree29108@gmail.com</a:t>
                      </a:r>
                      <a:endParaRPr lang="en-US"/>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a:t>9380502914</a:t>
                      </a:r>
                      <a:endParaRPr lang="en-US"/>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r>
            </a:tbl>
          </a:graphicData>
        </a:graphic>
      </p:graphicFrame>
      <p:sp>
        <p:nvSpPr>
          <p:cNvPr id="4" name="TextBox 3"/>
          <p:cNvSpPr txBox="1"/>
          <p:nvPr/>
        </p:nvSpPr>
        <p:spPr>
          <a:xfrm>
            <a:off x="1206164" y="1460724"/>
            <a:ext cx="10280254" cy="521970"/>
          </a:xfrm>
          <a:prstGeom prst="rect">
            <a:avLst/>
          </a:prstGeom>
          <a:noFill/>
        </p:spPr>
        <p:txBody>
          <a:bodyPr wrap="square" rtlCol="0">
            <a:spAutoFit/>
          </a:bodyPr>
          <a:lstStyle/>
          <a:p>
            <a:r>
              <a:rPr lang="en-US" sz="2800" b="1"/>
              <a:t>Domain of  Project – E-commerce</a:t>
            </a:r>
            <a:endParaRPr lang="en-US" sz="2800" b="1">
              <a:highlight>
                <a:srgbClr val="FFFF00"/>
              </a:highlight>
            </a:endParaRPr>
          </a:p>
        </p:txBody>
      </p:sp>
      <p:sp>
        <p:nvSpPr>
          <p:cNvPr id="7" name="TextBox 6"/>
          <p:cNvSpPr txBox="1"/>
          <p:nvPr/>
        </p:nvSpPr>
        <p:spPr>
          <a:xfrm>
            <a:off x="321310" y="457200"/>
            <a:ext cx="11562080" cy="953135"/>
          </a:xfrm>
          <a:prstGeom prst="rect">
            <a:avLst/>
          </a:prstGeom>
          <a:noFill/>
        </p:spPr>
        <p:txBody>
          <a:bodyPr wrap="square" rtlCol="0">
            <a:spAutoFit/>
          </a:bodyPr>
          <a:lstStyle/>
          <a:p>
            <a:pPr algn="just"/>
            <a:r>
              <a:rPr lang="en-US" sz="2800" b="1"/>
              <a:t>Project Tile – </a:t>
            </a:r>
            <a:r>
              <a:rPr lang="en-US" altLang="en-GB" sz="2800" b="1">
                <a:highlight>
                  <a:srgbClr val="FFFF00"/>
                </a:highlight>
              </a:rPr>
              <a:t>ShopSmart AI – Agentic Intelligent Shopping Assistant</a:t>
            </a:r>
            <a:endParaRPr lang="en-US" altLang="en-GB" sz="2800" b="1">
              <a:highlight>
                <a:srgbClr val="FFFF00"/>
              </a:highlight>
            </a:endParaRPr>
          </a:p>
        </p:txBody>
      </p:sp>
      <p:pic>
        <p:nvPicPr>
          <p:cNvPr id="5" name="Picture 4" descr="Tanu image"/>
          <p:cNvPicPr>
            <a:picLocks noChangeAspect="1"/>
          </p:cNvPicPr>
          <p:nvPr/>
        </p:nvPicPr>
        <p:blipFill>
          <a:blip r:embed="rId2"/>
          <a:stretch>
            <a:fillRect/>
          </a:stretch>
        </p:blipFill>
        <p:spPr>
          <a:xfrm>
            <a:off x="3733800" y="3886200"/>
            <a:ext cx="1895475" cy="137731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p:cNvSpPr txBox="1"/>
          <p:nvPr/>
        </p:nvSpPr>
        <p:spPr>
          <a:xfrm>
            <a:off x="576072" y="1234440"/>
            <a:ext cx="10607040" cy="3784600"/>
          </a:xfrm>
          <a:prstGeom prst="rect">
            <a:avLst/>
          </a:prstGeom>
          <a:noFill/>
        </p:spPr>
        <p:txBody>
          <a:bodyPr wrap="square" rtlCol="0">
            <a:spAutoFit/>
          </a:bodyPr>
          <a:lstStyle/>
          <a:p>
            <a:pPr fontAlgn="base"/>
            <a:endParaRPr lang="en-US" altLang="en-GB" sz="2000" b="1"/>
          </a:p>
          <a:p>
            <a:pPr algn="just" fontAlgn="base"/>
            <a:r>
              <a:rPr lang="en-US" altLang="en-GB" sz="2000"/>
              <a:t>Problem Statement No.11: Intelligent Shopping Agent</a:t>
            </a:r>
            <a:endParaRPr lang="en-US" altLang="en-GB" sz="2000"/>
          </a:p>
          <a:p>
            <a:pPr algn="just" fontAlgn="base"/>
            <a:r>
              <a:rPr lang="en-US" altLang="en-GB" sz="2000"/>
              <a:t>The Challenge</a:t>
            </a:r>
            <a:endParaRPr lang="en-US" altLang="en-GB" sz="2000"/>
          </a:p>
          <a:p>
            <a:pPr algn="just" fontAlgn="base"/>
            <a:r>
              <a:rPr lang="en-US" altLang="en-GB" sz="2000"/>
              <a:t>Shoppers today face an overload of product options, scattered reviews, and dynamic pricing across e-commerce platforms. Finding the right product that balances price, quality, and personal preferences is time-consuming and frustrating. Traditional recommendation systems often fail to capture real-time trends, personalized needs, or contextual factors like urgency, budget, or sustainability. The challenge is not just to recommend products but to act as a smart shopping companion that helps buyers make informed and confident decisions.</a:t>
            </a:r>
            <a:endParaRPr lang="en-US" altLang="en-GB" sz="2000"/>
          </a:p>
          <a:p>
            <a:pPr algn="l" fontAlgn="base"/>
            <a:endParaRPr lang="en-US" altLang="en-GB" sz="2000"/>
          </a:p>
          <a:p>
            <a:endParaRPr lang="en-US" altLang="en-GB" sz="2000"/>
          </a:p>
        </p:txBody>
      </p:sp>
      <p:sp>
        <p:nvSpPr>
          <p:cNvPr id="3" name="TextBox 2"/>
          <p:cNvSpPr txBox="1"/>
          <p:nvPr/>
        </p:nvSpPr>
        <p:spPr>
          <a:xfrm>
            <a:off x="457327" y="704088"/>
            <a:ext cx="7214616" cy="521970"/>
          </a:xfrm>
          <a:prstGeom prst="rect">
            <a:avLst/>
          </a:prstGeom>
          <a:noFill/>
        </p:spPr>
        <p:txBody>
          <a:bodyPr wrap="square" rtlCol="0">
            <a:spAutoFit/>
          </a:bodyPr>
          <a:lstStyle/>
          <a:p>
            <a:r>
              <a:rPr lang="en-US" sz="2800" b="1"/>
              <a:t>Problem Statement -</a:t>
            </a:r>
            <a:endParaRPr lang="en-US" sz="2800" b="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sz="2800">
                <a:latin typeface="+mj-lt"/>
                <a:cs typeface="+mj-lt"/>
                <a:sym typeface="+mn-ea"/>
              </a:rPr>
              <a:t>The Objective</a:t>
            </a:r>
            <a:endParaRPr lang="en-US" altLang="en-GB" sz="2800">
              <a:latin typeface="+mj-lt"/>
              <a:cs typeface="+mj-lt"/>
              <a:sym typeface="+mn-ea"/>
            </a:endParaRPr>
          </a:p>
        </p:txBody>
      </p:sp>
      <p:sp>
        <p:nvSpPr>
          <p:cNvPr id="3" name="Text Placeholder 2"/>
          <p:cNvSpPr>
            <a:spLocks noGrp="1"/>
          </p:cNvSpPr>
          <p:nvPr>
            <p:ph type="body" idx="1"/>
          </p:nvPr>
        </p:nvSpPr>
        <p:spPr/>
        <p:txBody>
          <a:bodyPr>
            <a:normAutofit fontScale="80000"/>
          </a:bodyPr>
          <a:p>
            <a:pPr marL="114300" indent="0" algn="just" fontAlgn="base">
              <a:buNone/>
            </a:pPr>
            <a:r>
              <a:rPr lang="en-US" altLang="en-GB">
                <a:latin typeface="Arial" panose="020B0604020202020204" pitchFamily="34" charset="0"/>
                <a:cs typeface="Arial" panose="020B0604020202020204" pitchFamily="34" charset="0"/>
              </a:rPr>
              <a:t>Build an agentic AI shopping assistant that provides intelligent, personalized, and real-time support. The solution should:</a:t>
            </a:r>
            <a:endParaRPr lang="en-US" altLang="en-GB">
              <a:latin typeface="Arial" panose="020B0604020202020204" pitchFamily="34" charset="0"/>
              <a:cs typeface="Arial" panose="020B0604020202020204" pitchFamily="34" charset="0"/>
            </a:endParaRPr>
          </a:p>
          <a:p>
            <a:pPr marL="114300" indent="0" algn="just" fontAlgn="base">
              <a:buNone/>
            </a:pPr>
            <a:r>
              <a:rPr lang="en-US" altLang="en-GB">
                <a:latin typeface="Arial" panose="020B0604020202020204" pitchFamily="34" charset="0"/>
                <a:cs typeface="Arial" panose="020B0604020202020204" pitchFamily="34" charset="0"/>
              </a:rPr>
              <a:t>1.Fuse Multisource Data: Aggregate product details, reviews, ratings, and price comparisons across multiple e-commerce sites into unified insights.</a:t>
            </a:r>
            <a:endParaRPr lang="en-US" altLang="en-GB">
              <a:latin typeface="Arial" panose="020B0604020202020204" pitchFamily="34" charset="0"/>
              <a:cs typeface="Arial" panose="020B0604020202020204" pitchFamily="34" charset="0"/>
            </a:endParaRPr>
          </a:p>
          <a:p>
            <a:pPr marL="114300" indent="0" algn="just" fontAlgn="base">
              <a:buNone/>
            </a:pPr>
            <a:r>
              <a:rPr lang="en-US" altLang="en-GB">
                <a:latin typeface="Arial" panose="020B0604020202020204" pitchFamily="34" charset="0"/>
                <a:cs typeface="Arial" panose="020B0604020202020204" pitchFamily="34" charset="0"/>
              </a:rPr>
              <a:t>2.Enable Multimodal Search: Allow users to input voice queries, images (e.g., a photo of a product), or text descriptions to find best-matching products.</a:t>
            </a:r>
            <a:endParaRPr lang="en-US" altLang="en-GB">
              <a:latin typeface="Arial" panose="020B0604020202020204" pitchFamily="34" charset="0"/>
              <a:cs typeface="Arial" panose="020B0604020202020204" pitchFamily="34" charset="0"/>
            </a:endParaRPr>
          </a:p>
          <a:p>
            <a:pPr marL="114300" indent="0" algn="just" fontAlgn="base">
              <a:buNone/>
            </a:pPr>
            <a:r>
              <a:rPr lang="en-US" altLang="en-GB">
                <a:latin typeface="Arial" panose="020B0604020202020204" pitchFamily="34" charset="0"/>
                <a:cs typeface="Arial" panose="020B0604020202020204" pitchFamily="34" charset="0"/>
              </a:rPr>
              <a:t>3.Create a Predictive &amp; Agentic Layer: Suggest purchase timing (e.g., discounts, seasonal offers), recommend alternatives, and alert users about price drops or fake reviews.</a:t>
            </a:r>
            <a:endParaRPr lang="en-US" altLang="en-GB">
              <a:latin typeface="Arial" panose="020B0604020202020204" pitchFamily="34" charset="0"/>
              <a:cs typeface="Arial" panose="020B0604020202020204" pitchFamily="34" charset="0"/>
            </a:endParaRPr>
          </a:p>
          <a:p>
            <a:pPr marL="114300" indent="0" algn="just" fontAlgn="base">
              <a:buNone/>
            </a:pPr>
            <a:r>
              <a:rPr lang="en-US" altLang="en-GB">
                <a:latin typeface="Arial" panose="020B0604020202020204" pitchFamily="34" charset="0"/>
                <a:cs typeface="Arial" panose="020B0604020202020204" pitchFamily="34" charset="0"/>
              </a:rPr>
              <a:t>4.Visualize Smart Shopping Pulse: Provide a dashboard summarizing comparisons, sustainability scores, trending products, and personalized shopping lists.</a:t>
            </a:r>
            <a:endParaRPr lang="en-US" altLang="en-GB">
              <a:latin typeface="Arial" panose="020B0604020202020204" pitchFamily="34" charset="0"/>
              <a:cs typeface="Arial" panose="020B0604020202020204" pitchFamily="34" charset="0"/>
            </a:endParaRPr>
          </a:p>
          <a:p>
            <a:pPr marL="114300" indent="0" algn="just" fontAlgn="base">
              <a:buNone/>
            </a:pPr>
            <a:endParaRPr lang="en-US" altLang="en-GB">
              <a:latin typeface="Arial" panose="020B0604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p:cNvSpPr txBox="1"/>
          <p:nvPr/>
        </p:nvSpPr>
        <p:spPr>
          <a:xfrm>
            <a:off x="455468" y="1168656"/>
            <a:ext cx="10607040" cy="5231130"/>
          </a:xfrm>
          <a:prstGeom prst="rect">
            <a:avLst/>
          </a:prstGeom>
          <a:noFill/>
        </p:spPr>
        <p:txBody>
          <a:bodyPr wrap="square" rtlCol="0">
            <a:spAutoFit/>
          </a:bodyPr>
          <a:lstStyle/>
          <a:p>
            <a:pPr fontAlgn="base"/>
            <a:endParaRPr lang="en-US" b="1"/>
          </a:p>
          <a:p>
            <a:r>
              <a:rPr lang="en-US" altLang="en-GB" sz="2000"/>
              <a:t>ShopSmart AI is an Agentic AI-powered Intelligent Shopping Assistant that helps users make smarter purchasing decisions by combining IBM Granite Models, IBM Langflow, IBM Orchestrate, and RAG. It aggregates product information from multiple sources, compares prices, reviews, and specifications, detects fake reviews, predicts the best time to buy, and provides personalized product recommendations. Through specialized AI agents, the system also supports multimodal search (text, voice, and image), sustainability scoring, and an interactive analytics dashboard, enabling users to make informed, confident, and cost-effective shopping decisions.</a:t>
            </a:r>
            <a:endParaRPr lang="en-US" altLang="en-GB" sz="2000"/>
          </a:p>
          <a:p>
            <a:endParaRPr lang="en-US" altLang="en-GB" sz="2000"/>
          </a:p>
          <a:p>
            <a:r>
              <a:rPr lang="en-US" altLang="en-GB" sz="2000"/>
              <a:t>Key Highlights</a:t>
            </a:r>
            <a:endParaRPr lang="en-US" altLang="en-GB" sz="2000"/>
          </a:p>
          <a:p>
            <a:r>
              <a:rPr lang="en-US" altLang="en-GB" sz="2000"/>
              <a:t>Multi-Agent AI architecture coordinated by IBM Orchestrate</a:t>
            </a:r>
            <a:endParaRPr lang="en-US" altLang="en-GB" sz="2000"/>
          </a:p>
          <a:p>
            <a:r>
              <a:rPr lang="en-US" altLang="en-GB" sz="2000"/>
              <a:t>AI-powered product comparison and personalized recommendations</a:t>
            </a:r>
            <a:endParaRPr lang="en-US" altLang="en-GB" sz="2000"/>
          </a:p>
          <a:p>
            <a:r>
              <a:rPr lang="en-US" altLang="en-GB" sz="2000"/>
              <a:t>RAG-based retrieval for trusted shopping insights</a:t>
            </a:r>
            <a:endParaRPr lang="en-US" altLang="en-GB" sz="2000"/>
          </a:p>
          <a:p>
            <a:r>
              <a:rPr lang="en-US" altLang="en-GB" sz="2000"/>
              <a:t>Multimodal search using text, image, and voice</a:t>
            </a:r>
            <a:endParaRPr lang="en-US" altLang="en-GB" sz="2000"/>
          </a:p>
          <a:p>
            <a:r>
              <a:rPr lang="en-US" altLang="en-GB" sz="2000"/>
              <a:t>Price prediction, fake review detection, and smart buying alerts</a:t>
            </a:r>
            <a:endParaRPr lang="en-US" altLang="en-GB" sz="2000"/>
          </a:p>
          <a:p>
            <a:r>
              <a:rPr lang="en-US" altLang="en-GB" sz="2000"/>
              <a:t>Interactive dashboard with trends, sustainability scores, and shopping analytics</a:t>
            </a:r>
            <a:endParaRPr lang="en-US" altLang="en-GB" sz="2000"/>
          </a:p>
        </p:txBody>
      </p:sp>
      <p:sp>
        <p:nvSpPr>
          <p:cNvPr id="3" name="TextBox 2"/>
          <p:cNvSpPr txBox="1"/>
          <p:nvPr/>
        </p:nvSpPr>
        <p:spPr>
          <a:xfrm>
            <a:off x="576072" y="704088"/>
            <a:ext cx="7214616" cy="521970"/>
          </a:xfrm>
          <a:prstGeom prst="rect">
            <a:avLst/>
          </a:prstGeom>
          <a:noFill/>
        </p:spPr>
        <p:txBody>
          <a:bodyPr wrap="square" rtlCol="0">
            <a:spAutoFit/>
          </a:bodyPr>
          <a:lstStyle/>
          <a:p>
            <a:r>
              <a:rPr lang="en-US" sz="2800" b="1"/>
              <a:t>Proposed Solution -</a:t>
            </a:r>
            <a:endParaRPr lang="en-US" sz="2800" b="1"/>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TextBox 1"/>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p:cNvSpPr txBox="1"/>
          <p:nvPr/>
        </p:nvSpPr>
        <p:spPr>
          <a:xfrm>
            <a:off x="777240" y="1207008"/>
            <a:ext cx="10515600" cy="2461260"/>
          </a:xfrm>
          <a:prstGeom prst="rect">
            <a:avLst/>
          </a:prstGeom>
          <a:noFill/>
        </p:spPr>
        <p:txBody>
          <a:bodyPr wrap="square" rtlCol="0">
            <a:spAutoFit/>
          </a:bodyPr>
          <a:lstStyle/>
          <a:p>
            <a:pPr marL="285750" indent="-285750">
              <a:buFont typeface="Arial" panose="020B0604020202020204" pitchFamily="34" charset="0"/>
              <a:buChar char="•"/>
            </a:pPr>
            <a:r>
              <a:rPr lang="en-US" altLang="en-GB" sz="1800"/>
              <a:t>IBM watsonx.ai Granite Models</a:t>
            </a:r>
            <a:endParaRPr lang="en-US" altLang="en-GB" sz="1800"/>
          </a:p>
          <a:p>
            <a:pPr marL="285750" indent="-285750">
              <a:buFont typeface="Arial" panose="020B0604020202020204" pitchFamily="34" charset="0"/>
              <a:buChar char="•"/>
            </a:pPr>
            <a:r>
              <a:rPr lang="en-US" altLang="en-GB" sz="1800"/>
              <a:t>IBM BOB</a:t>
            </a:r>
            <a:endParaRPr lang="en-US" altLang="en-GB" sz="1800"/>
          </a:p>
          <a:p>
            <a:pPr marL="285750" indent="-285750">
              <a:buFont typeface="Arial" panose="020B0604020202020204" pitchFamily="34" charset="0"/>
              <a:buChar char="•"/>
            </a:pPr>
            <a:r>
              <a:rPr lang="en-US" altLang="en-GB" sz="1800"/>
              <a:t>IBM Orchestrate (agent coordination)</a:t>
            </a:r>
            <a:endParaRPr lang="en-US" altLang="en-GB" sz="1800"/>
          </a:p>
          <a:p>
            <a:pPr marL="285750" indent="-285750">
              <a:buFont typeface="Arial" panose="020B0604020202020204" pitchFamily="34" charset="0"/>
              <a:buChar char="•"/>
            </a:pPr>
            <a:r>
              <a:rPr lang="en-US" altLang="en-GB" sz="1800"/>
              <a:t>ChromaDB (RAG knowledge base)</a:t>
            </a:r>
            <a:endParaRPr lang="en-US" altLang="en-GB" sz="1800"/>
          </a:p>
          <a:p>
            <a:pPr marL="285750" indent="-285750">
              <a:buFont typeface="Arial" panose="020B0604020202020204" pitchFamily="34" charset="0"/>
              <a:buChar char="•"/>
            </a:pPr>
            <a:r>
              <a:rPr lang="en-US" altLang="en-GB" sz="1800"/>
              <a:t>Python, Flask, Bootstrap 5</a:t>
            </a:r>
            <a:endParaRPr lang="en-US" altLang="en-GB" sz="1800"/>
          </a:p>
          <a:p>
            <a:pPr marL="285750" indent="-285750">
              <a:buFont typeface="Arial" panose="020B0604020202020204" pitchFamily="34" charset="0"/>
              <a:buChar char="•"/>
            </a:pPr>
            <a:r>
              <a:rPr lang="en-US" altLang="en-GB" sz="1800"/>
              <a:t>SQLite &amp; Chart.js</a:t>
            </a:r>
            <a:endParaRPr lang="en-US" altLang="en-GB" sz="1800"/>
          </a:p>
          <a:p>
            <a:pPr marL="285750" indent="-285750">
              <a:buFont typeface="Arial" panose="020B0604020202020204" pitchFamily="34" charset="0"/>
              <a:buChar char="•"/>
            </a:pPr>
            <a:endParaRPr lang="en-US" sz="1800"/>
          </a:p>
          <a:p>
            <a:endParaRPr lang="en-US"/>
          </a:p>
          <a:p>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1"/>
          <a:srcRect/>
          <a:stretch>
            <a:fillRect/>
          </a:stretch>
        </p:blipFill>
        <p:spPr>
          <a:xfrm>
            <a:off x="8371985" y="1167493"/>
            <a:ext cx="3015343" cy="4523014"/>
          </a:xfrm>
          <a:prstGeom prst="rect">
            <a:avLst/>
          </a:prstGeom>
          <a:noFill/>
          <a:ln>
            <a:noFill/>
          </a:ln>
        </p:spPr>
      </p:pic>
      <p:sp>
        <p:nvSpPr>
          <p:cNvPr id="2" name="TextBox 1"/>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p:cNvSpPr txBox="1"/>
          <p:nvPr/>
        </p:nvSpPr>
        <p:spPr>
          <a:xfrm>
            <a:off x="621792" y="1167493"/>
            <a:ext cx="7406640" cy="2461260"/>
          </a:xfrm>
          <a:prstGeom prst="rect">
            <a:avLst/>
          </a:prstGeom>
          <a:noFill/>
        </p:spPr>
        <p:txBody>
          <a:bodyPr wrap="square" rtlCol="0">
            <a:spAutoFit/>
          </a:bodyPr>
          <a:lstStyle/>
          <a:p>
            <a:r>
              <a:rPr lang="en-US" altLang="en-GB"/>
              <a:t>Autonomous Multi-Agent Collaboration: Specialized AI agents independently handle product search, comparison, review analysis, price prediction, recommendations, sustainability scoring, and multimodal search.</a:t>
            </a:r>
            <a:endParaRPr lang="en-US" altLang="en-GB"/>
          </a:p>
          <a:p>
            <a:r>
              <a:rPr lang="en-US" altLang="en-GB"/>
              <a:t>Intelligent Orchestration: IBM Orchestrate dynamically routes user requests to the appropriate agent(s) and coordinates their responses.</a:t>
            </a:r>
            <a:endParaRPr lang="en-US" altLang="en-GB"/>
          </a:p>
          <a:p>
            <a:r>
              <a:rPr lang="en-US" altLang="en-GB"/>
              <a:t>Context-Aware Decision Making: Combines user preferences, real-time product data, reviews, and RAG-based knowledge to deliver personalized shopping recommendations.</a:t>
            </a:r>
            <a:endParaRPr lang="en-US" altLang="en-GB"/>
          </a:p>
          <a:p>
            <a:r>
              <a:rPr lang="en-US" altLang="en-GB"/>
              <a:t>Proactive Shopping Assistance: Predicts price drops, detects fake reviews, recommends better alternatives, and alerts users about the best time to buy.</a:t>
            </a:r>
            <a:endParaRPr lang="en-US" altLang="en-GB"/>
          </a:p>
          <a:p>
            <a:r>
              <a:rPr lang="en-US" altLang="en-GB"/>
              <a:t>Personalized Shopping Experience: Continuously learns user preferences to provide tailored product suggestions, shopping lists, and smarter purchasing decisions.</a:t>
            </a:r>
            <a:endParaRPr lang="en-US" altLang="en-GB"/>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941070"/>
          </a:xfrm>
        </p:spPr>
        <p:txBody>
          <a:bodyPr/>
          <a:p>
            <a:r>
              <a:rPr lang="en-US" altLang="en-GB" sz="2800"/>
              <a:t>Screenshots</a:t>
            </a:r>
            <a:endParaRPr lang="en-US" altLang="en-GB" sz="2800"/>
          </a:p>
        </p:txBody>
      </p:sp>
      <p:sp>
        <p:nvSpPr>
          <p:cNvPr id="3" name="Text Placeholder 2"/>
          <p:cNvSpPr>
            <a:spLocks noGrp="1"/>
          </p:cNvSpPr>
          <p:nvPr>
            <p:ph type="body" idx="1"/>
          </p:nvPr>
        </p:nvSpPr>
        <p:spPr>
          <a:xfrm>
            <a:off x="838200" y="1139190"/>
            <a:ext cx="10515600" cy="5038090"/>
          </a:xfrm>
        </p:spPr>
        <p:txBody>
          <a:bodyPr/>
          <a:p>
            <a:pPr marL="114300" indent="0">
              <a:buNone/>
            </a:pPr>
            <a:endParaRPr lang="en-GB" altLang="en-US"/>
          </a:p>
        </p:txBody>
      </p:sp>
      <p:pic>
        <p:nvPicPr>
          <p:cNvPr id="5" name="Picture 4" descr="WhatsApp Image 2026-07-17 at 15.12.33"/>
          <p:cNvPicPr>
            <a:picLocks noChangeAspect="1"/>
          </p:cNvPicPr>
          <p:nvPr/>
        </p:nvPicPr>
        <p:blipFill>
          <a:blip r:embed="rId1"/>
          <a:stretch>
            <a:fillRect/>
          </a:stretch>
        </p:blipFill>
        <p:spPr>
          <a:xfrm>
            <a:off x="1086485" y="1313815"/>
            <a:ext cx="9140190" cy="513651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sz="2800">
                <a:sym typeface="+mn-ea"/>
              </a:rPr>
              <a:t>Screenshots</a:t>
            </a:r>
            <a:endParaRPr lang="en-US" altLang="en-GB" sz="2800">
              <a:sym typeface="+mn-ea"/>
            </a:endParaRPr>
          </a:p>
        </p:txBody>
      </p:sp>
      <p:sp>
        <p:nvSpPr>
          <p:cNvPr id="3" name="Text Placeholder 2"/>
          <p:cNvSpPr>
            <a:spLocks noGrp="1"/>
          </p:cNvSpPr>
          <p:nvPr>
            <p:ph type="body" idx="1"/>
          </p:nvPr>
        </p:nvSpPr>
        <p:spPr/>
        <p:txBody>
          <a:bodyPr/>
          <a:p>
            <a:pPr marL="114300" indent="0">
              <a:buNone/>
            </a:pPr>
            <a:endParaRPr lang="en-GB" altLang="en-US"/>
          </a:p>
        </p:txBody>
      </p:sp>
      <p:pic>
        <p:nvPicPr>
          <p:cNvPr id="5" name="Picture 4" descr="WhatsApp Image 2026-07-17 at 15.12.33 (2)"/>
          <p:cNvPicPr>
            <a:picLocks noChangeAspect="1"/>
          </p:cNvPicPr>
          <p:nvPr/>
        </p:nvPicPr>
        <p:blipFill>
          <a:blip r:embed="rId1"/>
          <a:stretch>
            <a:fillRect/>
          </a:stretch>
        </p:blipFill>
        <p:spPr>
          <a:xfrm>
            <a:off x="882015" y="1304925"/>
            <a:ext cx="10233025" cy="513397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sz="2800">
                <a:sym typeface="+mn-ea"/>
              </a:rPr>
              <a:t>Screenshots</a:t>
            </a:r>
            <a:endParaRPr lang="en-US" altLang="en-GB" sz="2800">
              <a:sym typeface="+mn-ea"/>
            </a:endParaRPr>
          </a:p>
        </p:txBody>
      </p:sp>
      <p:sp>
        <p:nvSpPr>
          <p:cNvPr id="3" name="Text Placeholder 2"/>
          <p:cNvSpPr>
            <a:spLocks noGrp="1"/>
          </p:cNvSpPr>
          <p:nvPr>
            <p:ph type="body" idx="1"/>
          </p:nvPr>
        </p:nvSpPr>
        <p:spPr>
          <a:xfrm>
            <a:off x="838200" y="1259840"/>
            <a:ext cx="10515600" cy="4917440"/>
          </a:xfrm>
        </p:spPr>
        <p:txBody>
          <a:bodyPr/>
          <a:p>
            <a:pPr marL="114300" indent="0">
              <a:buNone/>
            </a:pPr>
            <a:endParaRPr lang="en-GB" altLang="en-US"/>
          </a:p>
        </p:txBody>
      </p:sp>
      <p:pic>
        <p:nvPicPr>
          <p:cNvPr id="6" name="Picture 5" descr="WhatsApp Image 2026-07-17 at 15.12.33 (1)"/>
          <p:cNvPicPr>
            <a:picLocks noChangeAspect="1"/>
          </p:cNvPicPr>
          <p:nvPr/>
        </p:nvPicPr>
        <p:blipFill>
          <a:blip r:embed="rId1"/>
          <a:stretch>
            <a:fillRect/>
          </a:stretch>
        </p:blipFill>
        <p:spPr>
          <a:xfrm>
            <a:off x="647700" y="1375410"/>
            <a:ext cx="10587355" cy="488442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000"/>
              </a:lnSpc>
              <a:buClr>
                <a:srgbClr val="051D3A"/>
              </a:buClr>
              <a:buSzPts val="3500"/>
            </a:pPr>
            <a:r>
              <a:rPr lang="en-US" sz="2800" b="1">
                <a:sym typeface="Times New Roman" panose="02020603050405020304"/>
              </a:rPr>
              <a:t>Token Usage </a:t>
            </a:r>
            <a:endParaRPr lang="en-US" sz="2800" b="1">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 name="TextBox 4"/>
          <p:cNvSpPr txBox="1"/>
          <p:nvPr/>
        </p:nvSpPr>
        <p:spPr>
          <a:xfrm>
            <a:off x="897392" y="1042133"/>
            <a:ext cx="4371171" cy="30670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a:t>3009 tokens are used</a:t>
            </a:r>
            <a:endParaRPr lang="en-US"/>
          </a:p>
        </p:txBody>
      </p:sp>
      <p:sp>
        <p:nvSpPr>
          <p:cNvPr id="14" name="TextBox 13"/>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000" u="sng"/>
              <a:t>Before Prompt</a:t>
            </a:r>
            <a:endParaRPr lang="en-US" sz="2000" u="sng"/>
          </a:p>
        </p:txBody>
      </p:sp>
      <p:sp>
        <p:nvSpPr>
          <p:cNvPr id="15" name="TextBox 14"/>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000" u="sng"/>
              <a:t>After the Prompt</a:t>
            </a:r>
            <a:endParaRPr lang="en-US" sz="2000" u="sng"/>
          </a:p>
        </p:txBody>
      </p:sp>
      <p:sp>
        <p:nvSpPr>
          <p:cNvPr id="4" name="Text Box 3"/>
          <p:cNvSpPr txBox="1"/>
          <p:nvPr/>
        </p:nvSpPr>
        <p:spPr>
          <a:xfrm>
            <a:off x="1430655" y="4580890"/>
            <a:ext cx="4096385" cy="309245"/>
          </a:xfrm>
          <a:prstGeom prst="rect">
            <a:avLst/>
          </a:prstGeom>
          <a:noFill/>
        </p:spPr>
        <p:txBody>
          <a:bodyPr wrap="square" rtlCol="0">
            <a:noAutofit/>
          </a:bodyPr>
          <a:p>
            <a:endParaRPr lang="en-GB" altLang="en-US"/>
          </a:p>
        </p:txBody>
      </p:sp>
      <p:pic>
        <p:nvPicPr>
          <p:cNvPr id="2" name="Picture 1" descr="WhatsApp Image 2026-07-17 at 15.57.51"/>
          <p:cNvPicPr>
            <a:picLocks noChangeAspect="1"/>
          </p:cNvPicPr>
          <p:nvPr/>
        </p:nvPicPr>
        <p:blipFill>
          <a:blip r:embed="rId1"/>
          <a:stretch>
            <a:fillRect/>
          </a:stretch>
        </p:blipFill>
        <p:spPr>
          <a:xfrm>
            <a:off x="199390" y="2595245"/>
            <a:ext cx="5327650" cy="3790315"/>
          </a:xfrm>
          <a:prstGeom prst="rect">
            <a:avLst/>
          </a:prstGeom>
        </p:spPr>
      </p:pic>
      <p:pic>
        <p:nvPicPr>
          <p:cNvPr id="3" name="Picture 2" descr="WhatsApp Image 2026-07-17 at 15.57.51 (1)"/>
          <p:cNvPicPr>
            <a:picLocks noChangeAspect="1"/>
          </p:cNvPicPr>
          <p:nvPr/>
        </p:nvPicPr>
        <p:blipFill>
          <a:blip r:embed="rId2"/>
          <a:stretch>
            <a:fillRect/>
          </a:stretch>
        </p:blipFill>
        <p:spPr>
          <a:xfrm>
            <a:off x="5965825" y="2606675"/>
            <a:ext cx="5154930" cy="377888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TextBox 1"/>
          <p:cNvSpPr txBox="1"/>
          <p:nvPr/>
        </p:nvSpPr>
        <p:spPr>
          <a:xfrm>
            <a:off x="914400" y="484632"/>
            <a:ext cx="7123176" cy="521970"/>
          </a:xfrm>
          <a:prstGeom prst="rect">
            <a:avLst/>
          </a:prstGeom>
          <a:noFill/>
        </p:spPr>
        <p:txBody>
          <a:bodyPr wrap="square" rtlCol="0">
            <a:spAutoFit/>
          </a:bodyPr>
          <a:lstStyle/>
          <a:p>
            <a:r>
              <a:rPr lang="en-US" sz="2800" b="1"/>
              <a:t>Novelty and Uniqueness</a:t>
            </a:r>
            <a:endParaRPr lang="en-US" sz="2800" b="1"/>
          </a:p>
        </p:txBody>
      </p:sp>
      <p:sp>
        <p:nvSpPr>
          <p:cNvPr id="3" name="TextBox 2"/>
          <p:cNvSpPr txBox="1"/>
          <p:nvPr/>
        </p:nvSpPr>
        <p:spPr>
          <a:xfrm>
            <a:off x="777240" y="1207008"/>
            <a:ext cx="11301984" cy="4092575"/>
          </a:xfrm>
          <a:prstGeom prst="rect">
            <a:avLst/>
          </a:prstGeom>
          <a:noFill/>
        </p:spPr>
        <p:txBody>
          <a:bodyPr wrap="square" rtlCol="0">
            <a:spAutoFit/>
          </a:bodyPr>
          <a:lstStyle/>
          <a:p>
            <a:pPr algn="just"/>
            <a:r>
              <a:rPr lang="en-US" altLang="en-GB" sz="2000"/>
              <a:t>True Agentic AI Architecture: Uses multiple specialized AI agents (Product Comparison, Review Analysis, Price Prediction, Recommendation, Sustainability, and Multimodal Search) instead of a single recommendation engine.</a:t>
            </a:r>
            <a:endParaRPr lang="en-US" altLang="en-GB" sz="2000"/>
          </a:p>
          <a:p>
            <a:pPr algn="just"/>
            <a:r>
              <a:rPr lang="en-US" altLang="en-GB" sz="2000"/>
              <a:t>Intelligent Multi-Agent Collaboration: IBM Orchestrate enables agents to work together, delivering comprehensive and context-aware shopping insights.</a:t>
            </a:r>
            <a:endParaRPr lang="en-US" altLang="en-GB" sz="2000"/>
          </a:p>
          <a:p>
            <a:pPr algn="just"/>
            <a:r>
              <a:rPr lang="en-US" altLang="en-GB" sz="2000"/>
              <a:t>AI + RAG Powered Decisions: Combines IBM Granite Models with Retrieval-Augmented Generation (RAG) to provide reliable, explainable, and personalized recommendations.</a:t>
            </a:r>
            <a:endParaRPr lang="en-US" altLang="en-GB" sz="2000"/>
          </a:p>
          <a:p>
            <a:pPr algn="just"/>
            <a:r>
              <a:rPr lang="en-US" altLang="en-GB" sz="2000"/>
              <a:t>Predictive Shopping Intelligence: Forecasts price drops, identifies seasonal buying opportunities, and detects potentially fake reviews before purchase.</a:t>
            </a:r>
            <a:endParaRPr lang="en-US" altLang="en-GB" sz="2000"/>
          </a:p>
          <a:p>
            <a:pPr algn="just"/>
            <a:r>
              <a:rPr lang="en-US" altLang="en-GB" sz="2000"/>
              <a:t>Multimodal Product Discovery: Supports text, voice, and image-based product searches for a seamless shopping experience.</a:t>
            </a:r>
            <a:endParaRPr lang="en-US" altLang="en-GB" sz="2000"/>
          </a:p>
          <a:p>
            <a:pPr algn="just"/>
            <a:r>
              <a:rPr lang="en-US" altLang="en-GB" sz="2000"/>
              <a:t>Smart &amp; Sustainable Shopping: Provides sustainability scores, eco-friendly alternatives, and an interactive dashboard with personalized shopping trends and analytics.</a:t>
            </a:r>
            <a:endParaRPr lang="en-US" altLang="en-GB" sz="2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000"/>
              </a:lnSpc>
              <a:spcBef>
                <a:spcPts val="0"/>
              </a:spcBef>
              <a:spcAft>
                <a:spcPts val="0"/>
              </a:spcAft>
              <a:buClr>
                <a:srgbClr val="051D3A"/>
              </a:buClr>
              <a:buSzPts val="3500"/>
              <a:buFont typeface="Times New Roman" panose="02020603050405020304"/>
              <a:buNone/>
            </a:pPr>
            <a:r>
              <a:rPr lang="en-US" sz="2400" b="1">
                <a:sym typeface="Times New Roman" panose="02020603050405020304"/>
              </a:rPr>
              <a:t>Git Hub Link</a:t>
            </a:r>
            <a:endParaRPr sz="2400" b="1">
              <a:sym typeface="Times New Roman" panose="02020603050405020304"/>
            </a:endParaRPr>
          </a:p>
        </p:txBody>
      </p:sp>
      <p:sp>
        <p:nvSpPr>
          <p:cNvPr id="279" name="Google Shape;279;p18"/>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 Please create public </a:t>
            </a:r>
            <a:r>
              <a:rPr lang="en-US" sz="1850" b="0" i="0" u="none" strike="noStrike" cap="none" err="1">
                <a:solidFill>
                  <a:srgbClr val="2B3541"/>
                </a:solidFill>
                <a:latin typeface="Times New Roman" panose="02020603050405020304"/>
                <a:ea typeface="Times New Roman" panose="02020603050405020304"/>
                <a:cs typeface="Times New Roman" panose="02020603050405020304"/>
                <a:sym typeface="Times New Roman" panose="02020603050405020304"/>
              </a:rPr>
              <a:t>github</a:t>
            </a: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 repository (Enable Add README  button while creating repository) with format – </a:t>
            </a:r>
            <a:endPar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a:solidFill>
                  <a:srgbClr val="2B3541"/>
                </a:solidFill>
                <a:latin typeface="Times New Roman" panose="02020603050405020304"/>
                <a:ea typeface="Times New Roman" panose="02020603050405020304"/>
                <a:cs typeface="Times New Roman" panose="02020603050405020304"/>
                <a:sym typeface="Times New Roman" panose="02020603050405020304"/>
              </a:rPr>
              <a:t>Please test and Paste the working  </a:t>
            </a:r>
            <a:r>
              <a:rPr lang="en-US" sz="1850" err="1">
                <a:solidFill>
                  <a:srgbClr val="2B3541"/>
                </a:solidFill>
                <a:latin typeface="Times New Roman" panose="02020603050405020304"/>
                <a:ea typeface="Times New Roman" panose="02020603050405020304"/>
                <a:cs typeface="Times New Roman" panose="02020603050405020304"/>
                <a:sym typeface="Times New Roman" panose="02020603050405020304"/>
              </a:rPr>
              <a:t>Github</a:t>
            </a:r>
            <a:r>
              <a:rPr lang="en-US" sz="1850">
                <a:solidFill>
                  <a:srgbClr val="2B3541"/>
                </a:solidFill>
                <a:latin typeface="Times New Roman" panose="02020603050405020304"/>
                <a:ea typeface="Times New Roman" panose="02020603050405020304"/>
                <a:cs typeface="Times New Roman" panose="02020603050405020304"/>
                <a:sym typeface="Times New Roman" panose="02020603050405020304"/>
              </a:rPr>
              <a:t> URL –</a:t>
            </a:r>
            <a:r>
              <a:rPr lang="en-US" altLang="en-GB" sz="1850" b="1">
                <a:solidFill>
                  <a:srgbClr val="2B3541"/>
                </a:solidFill>
                <a:latin typeface="Times New Roman" panose="02020603050405020304"/>
                <a:ea typeface="Times New Roman" panose="02020603050405020304"/>
                <a:cs typeface="Times New Roman" panose="02020603050405020304"/>
                <a:sym typeface="Times New Roman" panose="02020603050405020304"/>
              </a:rPr>
              <a:t>https://github.com/Tanushree-Mohapatra/Shop-smart-AI</a:t>
            </a:r>
            <a:endParaRPr lang="en-US" altLang="en-GB" sz="1850" b="1">
              <a:solidFill>
                <a:srgbClr val="2B354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1">
                <a:solidFill>
                  <a:srgbClr val="2B3541"/>
                </a:solidFill>
                <a:latin typeface="Times New Roman" panose="02020603050405020304"/>
                <a:ea typeface="Times New Roman" panose="02020603050405020304"/>
                <a:cs typeface="Times New Roman" panose="02020603050405020304"/>
                <a:sym typeface="Times New Roman" panose="02020603050405020304"/>
              </a:rPr>
              <a:t>Make sure you have Uploaded following three files into your </a:t>
            </a:r>
            <a:r>
              <a:rPr lang="en-US" sz="1850" b="1" err="1">
                <a:solidFill>
                  <a:srgbClr val="2B3541"/>
                </a:solidFill>
                <a:latin typeface="Times New Roman" panose="02020603050405020304"/>
                <a:ea typeface="Times New Roman" panose="02020603050405020304"/>
                <a:cs typeface="Times New Roman" panose="02020603050405020304"/>
                <a:sym typeface="Times New Roman" panose="02020603050405020304"/>
              </a:rPr>
              <a:t>github</a:t>
            </a:r>
            <a:r>
              <a:rPr lang="en-US" sz="1850" b="1">
                <a:solidFill>
                  <a:srgbClr val="2B3541"/>
                </a:solidFill>
                <a:latin typeface="Times New Roman" panose="02020603050405020304"/>
                <a:ea typeface="Times New Roman" panose="02020603050405020304"/>
                <a:cs typeface="Times New Roman" panose="02020603050405020304"/>
                <a:sym typeface="Times New Roman" panose="02020603050405020304"/>
              </a:rPr>
              <a:t> repository  </a:t>
            </a:r>
            <a:br>
              <a:rPr lang="en-US" sz="1850">
                <a:solidFill>
                  <a:srgbClr val="2B3541"/>
                </a:solidFill>
                <a:latin typeface="Times New Roman" panose="02020603050405020304"/>
                <a:ea typeface="Times New Roman" panose="02020603050405020304"/>
                <a:cs typeface="Times New Roman" panose="02020603050405020304"/>
                <a:sym typeface="Times New Roman" panose="02020603050405020304"/>
              </a:rPr>
            </a:br>
            <a:r>
              <a:rPr lang="en-US" sz="1850">
                <a:solidFill>
                  <a:srgbClr val="2B3541"/>
                </a:solidFill>
                <a:latin typeface="Times New Roman" panose="02020603050405020304"/>
                <a:ea typeface="Times New Roman" panose="02020603050405020304"/>
                <a:cs typeface="Times New Roman" panose="02020603050405020304"/>
                <a:sym typeface="Times New Roman" panose="02020603050405020304"/>
              </a:rPr>
              <a:t>1) </a:t>
            </a:r>
            <a:r>
              <a:rPr lang="en-US" sz="1850" err="1">
                <a:solidFill>
                  <a:srgbClr val="2B3541"/>
                </a:solidFill>
                <a:latin typeface="Times New Roman" panose="02020603050405020304"/>
                <a:ea typeface="Times New Roman" panose="02020603050405020304"/>
                <a:cs typeface="Times New Roman" panose="02020603050405020304"/>
                <a:sym typeface="Times New Roman" panose="02020603050405020304"/>
              </a:rPr>
              <a:t>app.json</a:t>
            </a:r>
            <a:r>
              <a:rPr lang="en-US" sz="1850">
                <a:solidFill>
                  <a:srgbClr val="2B3541"/>
                </a:solidFill>
                <a:latin typeface="Times New Roman" panose="02020603050405020304"/>
                <a:ea typeface="Times New Roman" panose="02020603050405020304"/>
                <a:cs typeface="Times New Roman" panose="02020603050405020304"/>
                <a:sym typeface="Times New Roman" panose="02020603050405020304"/>
              </a:rPr>
              <a:t> file , 2) yourproblemstatement.pdf file  3) your projectpresntation.pptx file 4)any other files </a:t>
            </a:r>
            <a:endParaRPr lang="en-US" sz="1850">
              <a:solidFill>
                <a:srgbClr val="2B354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914559" y="28737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000"/>
              </a:lnSpc>
              <a:spcBef>
                <a:spcPts val="0"/>
              </a:spcBef>
              <a:spcAft>
                <a:spcPts val="0"/>
              </a:spcAft>
              <a:buClr>
                <a:srgbClr val="051D3A"/>
              </a:buClr>
              <a:buSzPts val="3500"/>
              <a:buFont typeface="Times New Roman" panose="02020603050405020304"/>
              <a:buNone/>
            </a:pPr>
            <a:r>
              <a:rPr lang="en-US" sz="2800" b="1">
                <a:sym typeface="Times New Roman" panose="02020603050405020304"/>
              </a:rPr>
              <a:t>Future </a:t>
            </a:r>
            <a:r>
              <a:rPr lang="en-US" sz="2400" b="1">
                <a:sym typeface="Times New Roman" panose="02020603050405020304"/>
              </a:rPr>
              <a:t>Scope </a:t>
            </a:r>
            <a:endParaRPr sz="2400" b="1">
              <a:sym typeface="Times New Roman" panose="02020603050405020304"/>
            </a:endParaRPr>
          </a:p>
        </p:txBody>
      </p:sp>
      <p:sp>
        <p:nvSpPr>
          <p:cNvPr id="279" name="Google Shape;279;p18"/>
          <p:cNvSpPr/>
          <p:nvPr/>
        </p:nvSpPr>
        <p:spPr>
          <a:xfrm>
            <a:off x="879475" y="775970"/>
            <a:ext cx="10246995" cy="4567555"/>
          </a:xfrm>
          <a:prstGeom prst="rect">
            <a:avLst/>
          </a:prstGeom>
          <a:noFill/>
          <a:ln>
            <a:noFill/>
          </a:ln>
        </p:spPr>
        <p:txBody>
          <a:bodyPr spcFirstLastPara="1" wrap="square" lIns="0" tIns="0" rIns="0" bIns="0" anchor="t" anchorCtr="0">
            <a:noAutofit/>
          </a:bodyPr>
          <a:lstStyle/>
          <a:p>
            <a:pPr marL="0" marR="0" lvl="0" indent="0" algn="just" rtl="0">
              <a:lnSpc>
                <a:spcPct val="162000"/>
              </a:lnSpc>
              <a:spcBef>
                <a:spcPts val="0"/>
              </a:spcBef>
              <a:spcAft>
                <a:spcPts val="0"/>
              </a:spcAft>
              <a:buClr>
                <a:srgbClr val="2B3541"/>
              </a:buClr>
              <a:buSzPts val="1850"/>
              <a:buFont typeface="Times New Roman" panose="02020603050405020304"/>
              <a:buNone/>
            </a:pPr>
            <a:r>
              <a:rPr lang="en-US" altLang="en-GB"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Real-Time E-commerce Integration: Connect with platforms like Amazon, Flipkart, and other retailers for live prices, availability, and offers.</a:t>
            </a:r>
            <a:endParaRPr lang="en-US" altLang="en-GB"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62000"/>
              </a:lnSpc>
              <a:spcBef>
                <a:spcPts val="0"/>
              </a:spcBef>
              <a:spcAft>
                <a:spcPts val="0"/>
              </a:spcAft>
              <a:buClr>
                <a:srgbClr val="2B3541"/>
              </a:buClr>
              <a:buSzPts val="1850"/>
              <a:buFont typeface="Times New Roman" panose="02020603050405020304"/>
              <a:buNone/>
            </a:pPr>
            <a:r>
              <a:rPr lang="en-US" altLang="en-GB"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Smart Price Drop Alerts: Notify users about discounts, flash sales, coupon availability, and the best time to purchase.</a:t>
            </a:r>
            <a:endParaRPr lang="en-US" altLang="en-GB"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62000"/>
              </a:lnSpc>
              <a:spcBef>
                <a:spcPts val="0"/>
              </a:spcBef>
              <a:spcAft>
                <a:spcPts val="0"/>
              </a:spcAft>
              <a:buClr>
                <a:srgbClr val="2B3541"/>
              </a:buClr>
              <a:buSzPts val="1850"/>
              <a:buFont typeface="Times New Roman" panose="02020603050405020304"/>
              <a:buNone/>
            </a:pPr>
            <a:r>
              <a:rPr lang="en-US" altLang="en-GB"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Advanced Multimodal AI: Enhance shopping with voice commands, image recognition, barcode scanning, and AR-based product visualization.</a:t>
            </a:r>
            <a:endParaRPr lang="en-US" altLang="en-GB"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62000"/>
              </a:lnSpc>
              <a:spcBef>
                <a:spcPts val="0"/>
              </a:spcBef>
              <a:spcAft>
                <a:spcPts val="0"/>
              </a:spcAft>
              <a:buClr>
                <a:srgbClr val="2B3541"/>
              </a:buClr>
              <a:buSzPts val="1850"/>
              <a:buFont typeface="Times New Roman" panose="02020603050405020304"/>
              <a:buNone/>
            </a:pPr>
            <a:r>
              <a:rPr lang="en-US" altLang="en-GB"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Personalized AI Learning: Continuously learn user preferences, shopping habits, and budgets to provide more accurate recommendations.</a:t>
            </a:r>
            <a:endParaRPr lang="en-US" altLang="en-GB"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62000"/>
              </a:lnSpc>
              <a:spcBef>
                <a:spcPts val="0"/>
              </a:spcBef>
              <a:spcAft>
                <a:spcPts val="0"/>
              </a:spcAft>
              <a:buClr>
                <a:srgbClr val="2B3541"/>
              </a:buClr>
              <a:buSzPts val="1850"/>
              <a:buFont typeface="Times New Roman" panose="02020603050405020304"/>
              <a:buNone/>
            </a:pPr>
            <a:r>
              <a:rPr lang="en-US" altLang="en-GB"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Sustainability &amp; Carbon Tracking: Expand eco-scoring with carbon footprint analysis and greener product alternatives.</a:t>
            </a:r>
            <a:endParaRPr lang="en-US" altLang="en-GB"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62000"/>
              </a:lnSpc>
              <a:spcBef>
                <a:spcPts val="0"/>
              </a:spcBef>
              <a:spcAft>
                <a:spcPts val="0"/>
              </a:spcAft>
              <a:buClr>
                <a:srgbClr val="2B3541"/>
              </a:buClr>
              <a:buSzPts val="1850"/>
              <a:buFont typeface="Times New Roman" panose="02020603050405020304"/>
              <a:buNone/>
            </a:pPr>
            <a:r>
              <a:rPr lang="en-US" altLang="en-GB"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Enterprise Deployment: Deploy on IBM Cloud with secure authentication, scalable microservices, and multilingual support for global users.</a:t>
            </a:r>
            <a:endParaRPr lang="en-US" altLang="en-GB"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a:t>Certificates Earned:</a:t>
            </a:r>
            <a:endParaRPr lang="en-US" sz="2400" b="1"/>
          </a:p>
          <a:p>
            <a:pPr algn="ctr"/>
            <a:endParaRPr lang="en-US"/>
          </a:p>
        </p:txBody>
      </p:sp>
      <p:pic>
        <p:nvPicPr>
          <p:cNvPr id="8" name="Picture 7"/>
          <p:cNvPicPr>
            <a:picLocks noChangeAspect="1"/>
          </p:cNvPicPr>
          <p:nvPr/>
        </p:nvPicPr>
        <p:blipFill>
          <a:blip r:embed="rId1"/>
          <a:stretch>
            <a:fillRect/>
          </a:stretch>
        </p:blipFill>
        <p:spPr>
          <a:xfrm>
            <a:off x="1050925" y="727075"/>
            <a:ext cx="10090150" cy="590105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i="0" u="none" strike="noStrike" baseline="0">
                <a:solidFill>
                  <a:srgbClr val="000000"/>
                </a:solidFill>
                <a:latin typeface="Arial" panose="020B0604020202020204"/>
              </a:rPr>
              <a:t>Certificates Earned:</a:t>
            </a:r>
            <a:r>
              <a:rPr sz="2400" b="0" i="0">
                <a:solidFill>
                  <a:srgbClr val="000000"/>
                </a:solidFill>
                <a:latin typeface="Arial" panose="020B0604020202020204"/>
                <a:ea typeface="Arial" panose="020B0604020202020204"/>
                <a:cs typeface="Arial" panose="020B0604020202020204"/>
              </a:rPr>
              <a:t>​</a:t>
            </a:r>
            <a:endParaRPr lang="en-US"/>
          </a:p>
          <a:p>
            <a:pPr algn="ctr"/>
            <a:endParaRPr lang="en-US"/>
          </a:p>
        </p:txBody>
      </p:sp>
      <p:pic>
        <p:nvPicPr>
          <p:cNvPr id="3" name="Picture 2" descr="WhatsApp Image 2026-07-16 at 15.29.41"/>
          <p:cNvPicPr>
            <a:picLocks noChangeAspect="1"/>
          </p:cNvPicPr>
          <p:nvPr/>
        </p:nvPicPr>
        <p:blipFill>
          <a:blip r:embed="rId1"/>
          <a:stretch>
            <a:fillRect/>
          </a:stretch>
        </p:blipFill>
        <p:spPr>
          <a:xfrm>
            <a:off x="975995" y="783590"/>
            <a:ext cx="10239375" cy="585533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1"/>
          <a:srcRect/>
          <a:stretch>
            <a:fillRect/>
          </a:stretch>
        </p:blipFill>
        <p:spPr>
          <a:xfrm>
            <a:off x="0" y="2190302"/>
            <a:ext cx="12192000" cy="2477396"/>
          </a:xfrm>
          <a:prstGeom prst="rect">
            <a:avLst/>
          </a:prstGeom>
          <a:noFill/>
          <a:ln>
            <a:noFill/>
          </a:ln>
        </p:spPr>
      </p:pic>
    </p:spTree>
  </p:cSld>
  <p:clrMapOvr>
    <a:masterClrMapping/>
  </p:clrMapOvr>
</p:sld>
</file>

<file path=ppt/tags/tag1.xml><?xml version="1.0" encoding="utf-8"?>
<p:tagLst xmlns:p="http://schemas.openxmlformats.org/presentationml/2006/main">
  <p:tag name="TABLE_ENDDRAG_ORIGIN_RECT" val="770*236"/>
  <p:tag name="TABLE_ENDDRAG_RECT" val="102*188*770*236"/>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6100</Words>
  <Application>WPS Presentation</Application>
  <PresentationFormat>Widescreen</PresentationFormat>
  <Paragraphs>125</Paragraphs>
  <Slides>17</Slides>
  <Notes>13</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17</vt:i4>
      </vt:variant>
    </vt:vector>
  </HeadingPairs>
  <TitlesOfParts>
    <vt:vector size="26" baseType="lpstr">
      <vt:lpstr>Arial</vt:lpstr>
      <vt:lpstr>SimSun</vt:lpstr>
      <vt:lpstr>Wingdings</vt:lpstr>
      <vt:lpstr>Arial</vt:lpstr>
      <vt:lpstr>Calibri</vt:lpstr>
      <vt:lpstr>Times New Roman</vt:lpstr>
      <vt:lpstr>Microsoft YaHei</vt:lpstr>
      <vt:lpstr>Arial Unicode MS</vt:lpstr>
      <vt:lpstr>Office Theme</vt:lpstr>
      <vt:lpstr>IBM University Engagement Project Submission </vt:lpstr>
      <vt:lpstr>PowerPoint 演示文稿</vt:lpstr>
      <vt:lpstr>PowerPoint 演示文稿</vt:lpstr>
      <vt:lpstr>The Objective</vt:lpstr>
      <vt:lpstr>PowerPoint 演示文稿</vt:lpstr>
      <vt:lpstr>PowerPoint 演示文稿</vt:lpstr>
      <vt:lpstr>PowerPoint 演示文稿</vt:lpstr>
      <vt:lpstr>Screenshots</vt:lpstr>
      <vt:lpstr>Screenshots</vt:lpstr>
      <vt:lpstr>Screenshots</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KSSEM</cp:lastModifiedBy>
  <cp:revision>8</cp:revision>
  <dcterms:created xsi:type="dcterms:W3CDTF">2025-07-08T05:06:00Z</dcterms:created>
  <dcterms:modified xsi:type="dcterms:W3CDTF">2026-07-17T10:32:10Z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2FEFD295C15B493DA270144B9DF78DF9_13</vt:lpwstr>
  </property>
  <property fmtid="{D5CDD505-2E9C-101B-9397-08002B2CF9AE}" pid="3" name="KSOProductBuildVer">
    <vt:lpwstr>2057-12.2.0.23206</vt:lpwstr>
  </property>
</Properties>
</file>